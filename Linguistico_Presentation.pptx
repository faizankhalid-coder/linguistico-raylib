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35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0" y="-1097280"/>
            <a:ext cx="4023360" cy="4023360"/>
          </a:xfrm>
          <a:prstGeom prst="ellipse">
            <a:avLst/>
          </a:prstGeom>
          <a:solidFill>
            <a:srgbClr val="B482FF">
              <a:alpha val="12000"/>
            </a:srgbClr>
          </a:solidFill>
          <a:ln w="12700">
            <a:solidFill>
              <a:srgbClr val="B482FF">
                <a:alpha val="1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502920"/>
            <a:ext cx="1463040" cy="1463040"/>
          </a:xfrm>
          <a:prstGeom prst="rect">
            <a:avLst/>
          </a:prstGeom>
          <a:solidFill>
            <a:srgbClr val="1C1637"/>
          </a:solidFill>
          <a:ln w="2540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40480" y="502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14400" y="210312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LINGUISTICO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Learning Application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0160" y="35204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50B4FF">
              <a:alpha val="25000"/>
            </a:srgbClr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/ Raylib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66160" y="35204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DC50B4">
              <a:alpha val="25000"/>
            </a:srgbClr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English  |  Spanish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52160" y="352044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E6BE50">
              <a:alpha val="25000"/>
            </a:srgbClr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0" y="3520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Irtiza  ·  Faizan  ·  Arshad  ·  Gohar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482FF">
              <a:alpha val="40000"/>
            </a:srgbClr>
          </a:solidFill>
          <a:ln w="12700">
            <a:solidFill>
              <a:srgbClr val="B482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Linguistico?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960120"/>
            <a:ext cx="5029200" cy="3474720"/>
          </a:xfrm>
          <a:prstGeom prst="rect">
            <a:avLst/>
          </a:prstGeom>
          <a:solidFill>
            <a:srgbClr val="1C1637"/>
          </a:solidFill>
          <a:ln w="1270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11430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desktop app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C++ with Raylib graphics.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two languages:
</a:t>
            </a:r>
            <a:r>
              <a:rPr lang="en-US" sz="1400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English  &amp;  Spanish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quiz system
</a:t>
            </a: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reading, writing
&amp; translation skills.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TTS audio
</a:t>
            </a: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Windows SAPI, animated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and score tracking.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69280" y="960120"/>
            <a:ext cx="3108960" cy="749808"/>
          </a:xfrm>
          <a:prstGeom prst="rect">
            <a:avLst/>
          </a:prstGeom>
          <a:solidFill>
            <a:srgbClr val="1C1637"/>
          </a:solidFill>
          <a:ln w="1905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97840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50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720840" y="97840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1856232"/>
            <a:ext cx="3108960" cy="749808"/>
          </a:xfrm>
          <a:prstGeom prst="rect">
            <a:avLst/>
          </a:prstGeom>
          <a:solidFill>
            <a:srgbClr val="1C1637"/>
          </a:solidFill>
          <a:ln w="1905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187452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0B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20840" y="187452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 Tiers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669280" y="2752344"/>
            <a:ext cx="3108960" cy="749808"/>
          </a:xfrm>
          <a:prstGeom prst="rect">
            <a:avLst/>
          </a:prstGeom>
          <a:solidFill>
            <a:srgbClr val="1C1637"/>
          </a:solidFill>
          <a:ln w="19050">
            <a:solidFill>
              <a:srgbClr val="FFA5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69280" y="2770632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A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720840" y="27706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States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669280" y="3648456"/>
            <a:ext cx="3108960" cy="749808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3666744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B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FPS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20840" y="366674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980×660 Resolution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1005840"/>
            <a:ext cx="64008" cy="1005840"/>
          </a:xfrm>
          <a:prstGeom prst="rect">
            <a:avLst/>
          </a:prstGeom>
          <a:solidFill>
            <a:srgbClr val="50B4FF"/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10058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43000" y="107899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Old English &amp; Spanish through interactive quiz-based lessons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FFA5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005840"/>
            <a:ext cx="64008" cy="1005840"/>
          </a:xfrm>
          <a:prstGeom prst="rect">
            <a:avLst/>
          </a:prstGeom>
          <a:solidFill>
            <a:srgbClr val="FFA532"/>
          </a:solidFill>
          <a:ln w="12700">
            <a:solidFill>
              <a:srgbClr val="FFA5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00584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32120" y="107899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proficiency tiers — Reading, Writing, and Translation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240280"/>
            <a:ext cx="64008" cy="1005840"/>
          </a:xfrm>
          <a:prstGeom prst="rect">
            <a:avLst/>
          </a:prstGeom>
          <a:solidFill>
            <a:srgbClr val="DC50B4"/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2240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143000" y="231343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and free-text typed answer question formats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240280"/>
            <a:ext cx="64008" cy="1005840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24028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32120" y="231343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feedback using Windows SAPI speech synthesis (TTS)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474720"/>
            <a:ext cx="64008" cy="1005840"/>
          </a:xfrm>
          <a:prstGeom prst="rect">
            <a:avLst/>
          </a:prstGeom>
          <a:solidFill>
            <a:srgbClr val="E6BE50"/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474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143000" y="354787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 tracking and a congratulations screen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1C1637"/>
          </a:solidFill>
          <a:ln w="1905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474720"/>
            <a:ext cx="64008" cy="1005840"/>
          </a:xfrm>
          <a:prstGeom prst="rect">
            <a:avLst/>
          </a:prstGeom>
          <a:solidFill>
            <a:srgbClr val="50DC82"/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474720"/>
            <a:ext cx="640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5532120" y="354787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animated UI with colour-coded proficiency themes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1005840"/>
            <a:ext cx="2651760" cy="64008"/>
          </a:xfrm>
          <a:prstGeom prst="rect">
            <a:avLst/>
          </a:prstGeom>
          <a:solidFill>
            <a:srgbClr val="50B4FF"/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Raylib Engine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rendering, input, audio, fonts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46120" y="991326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1005840"/>
            <a:ext cx="2651760" cy="64008"/>
          </a:xfrm>
          <a:prstGeom prst="rect">
            <a:avLst/>
          </a:prstGeom>
          <a:solidFill>
            <a:srgbClr val="DC50B4"/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Font System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37560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atlas — Old English (Þ æ Ƿ) &amp; Spanish (ñ á ¿)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FFA5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1005840"/>
            <a:ext cx="2651760" cy="64008"/>
          </a:xfrm>
          <a:prstGeom prst="rect">
            <a:avLst/>
          </a:prstGeom>
          <a:solidFill>
            <a:srgbClr val="FFA532"/>
          </a:solidFill>
          <a:ln w="12700">
            <a:solidFill>
              <a:srgbClr val="FFA5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1704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TTS Engine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16276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SAPI via PowerShell — no external SDK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2971800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2971800"/>
            <a:ext cx="2651760" cy="64008"/>
          </a:xfrm>
          <a:prstGeom prst="rect">
            <a:avLst/>
          </a:prstGeom>
          <a:solidFill>
            <a:srgbClr val="E6BE50"/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Audio Feedback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sine-wave tones: click, correct, wrong, intro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46120" y="2971800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2971800"/>
            <a:ext cx="2651760" cy="64008"/>
          </a:xfrm>
          <a:prstGeom prst="rect">
            <a:avLst/>
          </a:prstGeom>
          <a:solidFill>
            <a:srgbClr val="50DC82"/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Data Model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33756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→ Proficiency → Level → Questions (C++ structs)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1C1637"/>
          </a:solidFill>
          <a:ln w="1905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2971800"/>
            <a:ext cx="2651760" cy="64008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31363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Screen States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17920" y="359359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states via AppScreen enum (Splash → Quiz → Congrats)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Flow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123444" y="1463040"/>
            <a:ext cx="1051560" cy="1280160"/>
          </a:xfrm>
          <a:prstGeom prst="rect">
            <a:avLst/>
          </a:prstGeom>
          <a:solidFill>
            <a:srgbClr val="B482FF">
              <a:alpha val="30000"/>
            </a:srgbClr>
          </a:solidFill>
          <a:ln w="2540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23444" y="1463040"/>
            <a:ext cx="1051560" cy="54864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credits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02436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8156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31036" y="1463040"/>
            <a:ext cx="1051560" cy="1280160"/>
          </a:xfrm>
          <a:prstGeom prst="rect">
            <a:avLst/>
          </a:prstGeom>
          <a:solidFill>
            <a:srgbClr val="50B4FF">
              <a:alpha val="30000"/>
            </a:srgbClr>
          </a:solidFill>
          <a:ln w="2540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431036" y="1463040"/>
            <a:ext cx="1051560" cy="54864"/>
          </a:xfrm>
          <a:prstGeom prst="rect">
            <a:avLst/>
          </a:prstGeom>
          <a:solidFill>
            <a:srgbClr val="50B4FF"/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31036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31036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English / Spanish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10028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55748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38628" y="1463040"/>
            <a:ext cx="1051560" cy="1280160"/>
          </a:xfrm>
          <a:prstGeom prst="rect">
            <a:avLst/>
          </a:prstGeom>
          <a:solidFill>
            <a:srgbClr val="FFA532">
              <a:alpha val="30000"/>
            </a:srgbClr>
          </a:solidFill>
          <a:ln w="25400">
            <a:solidFill>
              <a:srgbClr val="FFA5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38628" y="1463040"/>
            <a:ext cx="1051560" cy="54864"/>
          </a:xfrm>
          <a:prstGeom prst="rect">
            <a:avLst/>
          </a:prstGeom>
          <a:solidFill>
            <a:srgbClr val="FFA532"/>
          </a:solidFill>
          <a:ln w="12700">
            <a:solidFill>
              <a:srgbClr val="FFA5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38628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38628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/ Writing / Translation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17620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63340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46220" y="1463040"/>
            <a:ext cx="1051560" cy="1280160"/>
          </a:xfrm>
          <a:prstGeom prst="rect">
            <a:avLst/>
          </a:prstGeom>
          <a:solidFill>
            <a:srgbClr val="DC50B4">
              <a:alpha val="30000"/>
            </a:srgbClr>
          </a:solidFill>
          <a:ln w="2540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46220" y="1463040"/>
            <a:ext cx="1051560" cy="54864"/>
          </a:xfrm>
          <a:prstGeom prst="rect">
            <a:avLst/>
          </a:prstGeom>
          <a:solidFill>
            <a:srgbClr val="DC50B4"/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46220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46220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level card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125212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70932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53812" y="1463040"/>
            <a:ext cx="1051560" cy="1280160"/>
          </a:xfrm>
          <a:prstGeom prst="rect">
            <a:avLst/>
          </a:prstGeom>
          <a:solidFill>
            <a:srgbClr val="50DC82">
              <a:alpha val="30000"/>
            </a:srgbClr>
          </a:solidFill>
          <a:ln w="2540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353812" y="1463040"/>
            <a:ext cx="1051560" cy="54864"/>
          </a:xfrm>
          <a:prstGeom prst="rect">
            <a:avLst/>
          </a:prstGeom>
          <a:solidFill>
            <a:srgbClr val="50DC82"/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3812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(MC)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353812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buttons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32804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78524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661404" y="1463040"/>
            <a:ext cx="1051560" cy="1280160"/>
          </a:xfrm>
          <a:prstGeom prst="rect">
            <a:avLst/>
          </a:prstGeom>
          <a:solidFill>
            <a:srgbClr val="E6BE50">
              <a:alpha val="30000"/>
            </a:srgbClr>
          </a:solidFill>
          <a:ln w="2540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661404" y="1463040"/>
            <a:ext cx="1051560" cy="54864"/>
          </a:xfrm>
          <a:prstGeom prst="rect">
            <a:avLst/>
          </a:prstGeom>
          <a:solidFill>
            <a:srgbClr val="E6BE50"/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61404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(Type)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661404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input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740396" y="2103120"/>
            <a:ext cx="201168" cy="0"/>
          </a:xfrm>
          <a:prstGeom prst="line">
            <a:avLst/>
          </a:prstGeom>
          <a:noFill/>
          <a:ln w="19050">
            <a:solidFill>
              <a:srgbClr val="B482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86116" y="1965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482FF"/>
                </a:solidFill>
              </a:rPr>
              <a:t>▶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968996" y="1463040"/>
            <a:ext cx="1051560" cy="1280160"/>
          </a:xfrm>
          <a:prstGeom prst="rect">
            <a:avLst/>
          </a:prstGeom>
          <a:solidFill>
            <a:srgbClr val="E6505A">
              <a:alpha val="30000"/>
            </a:srgbClr>
          </a:solidFill>
          <a:ln w="25400">
            <a:solidFill>
              <a:srgbClr val="E6505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968996" y="1463040"/>
            <a:ext cx="1051560" cy="54864"/>
          </a:xfrm>
          <a:prstGeom prst="rect">
            <a:avLst/>
          </a:prstGeom>
          <a:solidFill>
            <a:srgbClr val="E6505A"/>
          </a:solidFill>
          <a:ln w="12700">
            <a:solidFill>
              <a:srgbClr val="E650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68996" y="157276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968996" y="2029968"/>
            <a:ext cx="1051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grade + passage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is managed by the AppScreen enum — users progress linearly through the flow.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14400" y="3520440"/>
            <a:ext cx="3657600" cy="1280160"/>
          </a:xfrm>
          <a:prstGeom prst="rect">
            <a:avLst/>
          </a:prstGeom>
          <a:solidFill>
            <a:srgbClr val="1C1637"/>
          </a:solidFill>
          <a:ln w="1905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024128" y="363016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Multiple Choice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024128" y="4023360"/>
            <a:ext cx="3438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options, toggle &amp; submit, shows correct/wrong colours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29200" y="3520440"/>
            <a:ext cx="3657600" cy="1280160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5138928" y="3630168"/>
            <a:ext cx="3438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Typed Answer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138928" y="4023360"/>
            <a:ext cx="3438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input, Enter to submit, case-flexible matching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Content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914400"/>
            <a:ext cx="4023360" cy="3977640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914400"/>
            <a:ext cx="4023360" cy="457200"/>
          </a:xfrm>
          <a:prstGeom prst="rect">
            <a:avLst/>
          </a:prstGeom>
          <a:solidFill>
            <a:srgbClr val="E6BE50">
              <a:alpha val="60000"/>
            </a:srgbClr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9326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Old English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1463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" y="17556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— Thorn (Þ/þ): 'th' sound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20116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2 — Wynn (Ƿ/ƿ): 'w' sound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" y="22677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3 — Ash (Æ/æ): short 'a' sound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2615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29077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— Ƿe, Þu, sweord, Hƿæt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" y="31638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2 — weoruld, cyning + typed Q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" y="34198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3 — Full OE sentence construction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3767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Translation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4059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Levels 1–4: basic sentences → Beowulf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" y="43159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paragraphs + Lord's Prayer typed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914400"/>
            <a:ext cx="4023360" cy="3977640"/>
          </a:xfrm>
          <a:prstGeom prst="rect">
            <a:avLst/>
          </a:prstGeom>
          <a:solidFill>
            <a:srgbClr val="1C1637"/>
          </a:solidFill>
          <a:ln w="1905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914400"/>
            <a:ext cx="4023360" cy="457200"/>
          </a:xfrm>
          <a:prstGeom prst="rect">
            <a:avLst/>
          </a:prstGeom>
          <a:solidFill>
            <a:srgbClr val="50DC82">
              <a:alpha val="60000"/>
            </a:srgbClr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93268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🌮  Spanish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892040" y="1463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0" y="175564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— Greetings: Hola, Adiós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29200" y="20116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2 — Numbers: Uno, Cinco, Diez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29200" y="22677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3 — Colors: Rojo, Azul, Verde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26151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0" y="29077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— Buenos días, ¿Cómo estás?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0" y="316382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2 — Animals &amp; objects + typed 'agua'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0" y="34198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3 — Me llamo + typed intro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892040" y="3767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Translation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0" y="4059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1 — Mi amigo tiene un perro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029200" y="43159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2 — Nosotros vamos; typed 'Good night'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29200" y="457200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Level 3 — Advanced bi-directional translation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&amp; Visual Design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914400"/>
            <a:ext cx="4023360" cy="2377440"/>
          </a:xfrm>
          <a:prstGeom prst="rect">
            <a:avLst/>
          </a:prstGeom>
          <a:solidFill>
            <a:srgbClr val="1C1637"/>
          </a:solidFill>
          <a:ln w="1905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Scoring System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640" y="14630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74520" y="1463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correct answer (MC or typed)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18928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874520" y="189280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Outstanding! 🌟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23225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50–79%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74520" y="232257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Well done! 👍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27523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874520" y="275234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Keep practising! 💪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914400"/>
            <a:ext cx="4023360" cy="2377440"/>
          </a:xfrm>
          <a:prstGeom prst="rect">
            <a:avLst/>
          </a:prstGeom>
          <a:solidFill>
            <a:srgbClr val="1C1637"/>
          </a:solidFill>
          <a:ln w="1905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Colour Palette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892040" y="1536192"/>
            <a:ext cx="228600" cy="228600"/>
          </a:xfrm>
          <a:prstGeom prst="ellipse">
            <a:avLst/>
          </a:prstGeom>
          <a:solidFill>
            <a:srgbClr val="8888AA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84648" y="14630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#0F0C1E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12280" y="1536192"/>
            <a:ext cx="228600" cy="228600"/>
          </a:xfrm>
          <a:prstGeom prst="ellipse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04888" y="146304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(UI)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#B482FF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92040" y="2084832"/>
            <a:ext cx="228600" cy="228600"/>
          </a:xfrm>
          <a:prstGeom prst="ellipse">
            <a:avLst/>
          </a:prstGeom>
          <a:solidFill>
            <a:srgbClr val="E6BE50"/>
          </a:solidFill>
          <a:ln w="12700">
            <a:solidFill>
              <a:srgbClr val="E6BE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84648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Gold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#E6BE50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12280" y="2084832"/>
            <a:ext cx="228600" cy="228600"/>
          </a:xfrm>
          <a:prstGeom prst="ellipse">
            <a:avLst/>
          </a:prstGeom>
          <a:solidFill>
            <a:srgbClr val="50B4FF"/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04888" y="201168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#50B4FF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92040" y="2633472"/>
            <a:ext cx="228600" cy="228600"/>
          </a:xfrm>
          <a:prstGeom prst="ellipse">
            <a:avLst/>
          </a:prstGeom>
          <a:solidFill>
            <a:srgbClr val="FFA532"/>
          </a:solidFill>
          <a:ln w="12700">
            <a:solidFill>
              <a:srgbClr val="FFA5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4648" y="25603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#FFA532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12280" y="2633472"/>
            <a:ext cx="228600" cy="228600"/>
          </a:xfrm>
          <a:prstGeom prst="ellipse">
            <a:avLst/>
          </a:prstGeom>
          <a:solidFill>
            <a:srgbClr val="DC50B4"/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2560320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#DC50B4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474720"/>
            <a:ext cx="8412480" cy="822960"/>
          </a:xfrm>
          <a:prstGeom prst="rect">
            <a:avLst/>
          </a:prstGeom>
          <a:solidFill>
            <a:srgbClr val="1C1637"/>
          </a:solidFill>
          <a:ln w="12700">
            <a:solidFill>
              <a:srgbClr val="8888A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48640" y="35478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Animated Starfield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" y="3858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star particles drift downward with independent speeds, wrapping to the top. Brightness pulses via sine wave — creating a living, breathing background.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1C1637"/>
          </a:solidFill>
          <a:ln w="12700">
            <a:solidFill>
              <a:srgbClr val="8888A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48640" y="44622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Progress Bar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926080" y="4553712"/>
            <a:ext cx="5486400" cy="201168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26080" y="4553712"/>
            <a:ext cx="4114800" cy="201168"/>
          </a:xfrm>
          <a:prstGeom prst="rect">
            <a:avLst/>
          </a:prstGeom>
          <a:solidFill>
            <a:srgbClr val="50DC82"/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86600" y="45079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Technology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1005840"/>
            <a:ext cx="4114800" cy="1600200"/>
          </a:xfrm>
          <a:prstGeom prst="rect">
            <a:avLst/>
          </a:prstGeom>
          <a:solidFill>
            <a:srgbClr val="1C1637"/>
          </a:solidFill>
          <a:ln w="19050">
            <a:solidFill>
              <a:srgbClr val="B482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1005840"/>
            <a:ext cx="73152" cy="1600200"/>
          </a:xfrm>
          <a:prstGeom prst="rect">
            <a:avLst/>
          </a:prstGeom>
          <a:solidFill>
            <a:srgbClr val="B482FF"/>
          </a:solidFill>
          <a:ln w="12700">
            <a:solidFill>
              <a:srgbClr val="B48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005840"/>
            <a:ext cx="685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👨‍💻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23444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Irtiza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3444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3444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 level design &amp; system skeletal structure, implementation of languages, screen state machine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1005840"/>
            <a:ext cx="4114800" cy="1600200"/>
          </a:xfrm>
          <a:prstGeom prst="rect">
            <a:avLst/>
          </a:prstGeom>
          <a:solidFill>
            <a:srgbClr val="1C1637"/>
          </a:solidFill>
          <a:ln w="1905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005840"/>
            <a:ext cx="73152" cy="1600200"/>
          </a:xfrm>
          <a:prstGeom prst="rect">
            <a:avLst/>
          </a:prstGeom>
          <a:solidFill>
            <a:srgbClr val="50B4FF"/>
          </a:solidFill>
          <a:ln w="12700">
            <a:solidFill>
              <a:srgbClr val="50B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005840"/>
            <a:ext cx="685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66928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669280" y="15727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Designer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graphics, TTS integration, Implementation of </a:t>
            </a:r>
            <a:r>
              <a:rPr lang="en-US" sz="1100" dirty="0" err="1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</a:t>
            </a: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functionality, polishing of features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1C1637"/>
          </a:solidFill>
          <a:ln w="19050">
            <a:solidFill>
              <a:srgbClr val="FFA53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2834640"/>
            <a:ext cx="73152" cy="1600200"/>
          </a:xfrm>
          <a:prstGeom prst="rect">
            <a:avLst/>
          </a:prstGeom>
          <a:solidFill>
            <a:srgbClr val="FFA532"/>
          </a:solidFill>
          <a:ln w="12700">
            <a:solidFill>
              <a:srgbClr val="FFA5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834640"/>
            <a:ext cx="685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123444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A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Arshad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234440" y="3401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Visual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34440" y="3703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synthesis, discovery and implementation of system sound system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2834640"/>
            <a:ext cx="4114800" cy="1600200"/>
          </a:xfrm>
          <a:prstGeom prst="rect">
            <a:avLst/>
          </a:prstGeom>
          <a:solidFill>
            <a:srgbClr val="1C1637"/>
          </a:solidFill>
          <a:ln w="1905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2834640"/>
            <a:ext cx="73152" cy="1600200"/>
          </a:xfrm>
          <a:prstGeom prst="rect">
            <a:avLst/>
          </a:prstGeom>
          <a:solidFill>
            <a:srgbClr val="DC50B4"/>
          </a:solidFill>
          <a:ln w="12700">
            <a:solidFill>
              <a:srgbClr val="DC50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834640"/>
            <a:ext cx="685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566928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Gohar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669280" y="34015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&amp; Testing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0" y="3703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System UI, Implementation of features, QA Testing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C1637"/>
          </a:solidFill>
          <a:ln w="12700">
            <a:solidFill>
              <a:srgbClr val="8888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6344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(C++17)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048256" y="4754880"/>
            <a:ext cx="0" cy="411480"/>
          </a:xfrm>
          <a:prstGeom prst="line">
            <a:avLst/>
          </a:prstGeom>
          <a:noFill/>
          <a:ln w="12700">
            <a:solidFill>
              <a:srgbClr val="8888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48256" y="466344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Raylib / OpenGL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730752" y="4754880"/>
            <a:ext cx="0" cy="411480"/>
          </a:xfrm>
          <a:prstGeom prst="line">
            <a:avLst/>
          </a:prstGeom>
          <a:noFill/>
          <a:ln w="12700">
            <a:solidFill>
              <a:srgbClr val="8888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0752" y="466344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SAPI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13248" y="4754880"/>
            <a:ext cx="0" cy="411480"/>
          </a:xfrm>
          <a:prstGeom prst="line">
            <a:avLst/>
          </a:prstGeom>
          <a:noFill/>
          <a:ln w="12700">
            <a:solidFill>
              <a:srgbClr val="8888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13248" y="466344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Win32 API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095744" y="4754880"/>
            <a:ext cx="0" cy="411480"/>
          </a:xfrm>
          <a:prstGeom prst="line">
            <a:avLst/>
          </a:prstGeom>
          <a:noFill/>
          <a:ln w="12700">
            <a:solidFill>
              <a:srgbClr val="8888A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95744" y="4663440"/>
            <a:ext cx="1682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 Compiler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Limits &amp; Future Work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1C1637"/>
          </a:solidFill>
          <a:ln w="19050">
            <a:solidFill>
              <a:srgbClr val="E6505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E6505A">
              <a:alpha val="45000"/>
            </a:srgbClr>
          </a:solidFill>
          <a:ln w="12700">
            <a:solidFill>
              <a:srgbClr val="E650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978408"/>
            <a:ext cx="3749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Current Limitations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Windows-only (Win32 TTS / PowerShell)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21671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persistent progress — scores reset on exit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28254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LiberationSans.ttf must be co-located with the .exe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34838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user accounts or leaderboards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960120"/>
            <a:ext cx="4023360" cy="3474720"/>
          </a:xfrm>
          <a:prstGeom prst="rect">
            <a:avLst/>
          </a:prstGeom>
          <a:solidFill>
            <a:srgbClr val="1C1637"/>
          </a:solidFill>
          <a:ln w="1905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50DC82">
              <a:alpha val="45000"/>
            </a:srgbClr>
          </a:solidFill>
          <a:ln w="12700">
            <a:solidFill>
              <a:srgbClr val="50DC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978408"/>
            <a:ext cx="3749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Potential Enhancements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37760" y="14813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Cross-platform TTS (OpenAL or similar)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19568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Save/load progress via JSON or SQLite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24323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 French, German, Arabic courses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29077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Adaptive difficulty based on performance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37760" y="33832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Animated mascot for encouragement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3858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port via Raylib Android/iOS targets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4572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82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8229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10058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548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25603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20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6459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0" y="2468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576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2004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4747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0" y="38404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8346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57200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475488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38912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6634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4206240"/>
            <a:ext cx="27432" cy="2743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B482FF">
              <a:alpha val="10000"/>
            </a:srgbClr>
          </a:solidFill>
          <a:ln w="12700">
            <a:solidFill>
              <a:srgbClr val="B482FF">
                <a:alpha val="1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4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29" name="Shape 27"/>
          <p:cNvSpPr/>
          <p:nvPr/>
        </p:nvSpPr>
        <p:spPr>
          <a:xfrm>
            <a:off x="457200" y="1051560"/>
            <a:ext cx="1920240" cy="1234440"/>
          </a:xfrm>
          <a:prstGeom prst="rect">
            <a:avLst/>
          </a:prstGeom>
          <a:solidFill>
            <a:srgbClr val="1C1637"/>
          </a:solidFill>
          <a:ln w="25400">
            <a:solidFill>
              <a:srgbClr val="E6BE5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B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English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proficiency tiers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0" y="1051560"/>
            <a:ext cx="1920240" cy="1234440"/>
          </a:xfrm>
          <a:prstGeom prst="rect">
            <a:avLst/>
          </a:prstGeom>
          <a:solidFill>
            <a:srgbClr val="1C1637"/>
          </a:solidFill>
          <a:ln w="25400">
            <a:solidFill>
              <a:srgbClr val="50DC82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032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🌮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6032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6032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proficiency tiers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1051560"/>
            <a:ext cx="1920240" cy="1234440"/>
          </a:xfrm>
          <a:prstGeom prst="rect">
            <a:avLst/>
          </a:prstGeom>
          <a:solidFill>
            <a:srgbClr val="1C1637"/>
          </a:solidFill>
          <a:ln w="25400">
            <a:solidFill>
              <a:srgbClr val="50B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66344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Narration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6344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SDK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66560" y="1051560"/>
            <a:ext cx="1920240" cy="1234440"/>
          </a:xfrm>
          <a:prstGeom prst="rect">
            <a:avLst/>
          </a:prstGeom>
          <a:solidFill>
            <a:srgbClr val="1C1637"/>
          </a:solidFill>
          <a:ln w="25400">
            <a:solidFill>
              <a:srgbClr val="DC50B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66560" y="1097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6656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766560" y="18470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starfield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2468880"/>
            <a:ext cx="7680960" cy="1645920"/>
          </a:xfrm>
          <a:prstGeom prst="rect">
            <a:avLst/>
          </a:prstGeom>
          <a:solidFill>
            <a:srgbClr val="1C1637"/>
          </a:solidFill>
          <a:ln w="12700">
            <a:solidFill>
              <a:srgbClr val="8888A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4400" y="2578608"/>
            <a:ext cx="7315200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Linguistico delivers an engaging, educational language-learning experience in a polished graphical environment. The project demonstrates effective use of Raylib for real-time UI rendering, creative Windows SAPI speech synthesis without external SDKs, careful Unicode font engineering for historical scripts, and a data-driven course architecture that makes it straightforward to add new languages and questions.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1440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0D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Primary Objectives Achieved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" y="47365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Linguistico  —  Irtiza · Faizan · Arshad · Gohar  —  2025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B482FF">
              <a:alpha val="40000"/>
            </a:srgbClr>
          </a:solidFill>
          <a:ln w="12700">
            <a:solidFill>
              <a:srgbClr val="B482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907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Linguistico — Project Documentation</dc:title>
  <dc:subject>PptxGenJS Presentation</dc:subject>
  <dc:creator>PptxGenJS</dc:creator>
  <cp:lastModifiedBy>049 Faizan Khalid</cp:lastModifiedBy>
  <cp:revision>2</cp:revision>
  <dcterms:created xsi:type="dcterms:W3CDTF">2026-05-11T05:40:02Z</dcterms:created>
  <dcterms:modified xsi:type="dcterms:W3CDTF">2026-05-11T06:08:16Z</dcterms:modified>
</cp:coreProperties>
</file>